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Canva Sans Bold" charset="1" panose="020B0803030501040103"/>
      <p:regular r:id="rId20"/>
    </p:embeddedFont>
    <p:embeddedFont>
      <p:font typeface="Canva Sans" charset="1" panose="020B0503030501040103"/>
      <p:regular r:id="rId21"/>
    </p:embeddedFont>
    <p:embeddedFont>
      <p:font typeface="Dynapuff Condensed" charset="1" panose="0000000000000000000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9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10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1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12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3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F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64261" y="6677503"/>
            <a:ext cx="6103108" cy="4114800"/>
          </a:xfrm>
          <a:custGeom>
            <a:avLst/>
            <a:gdLst/>
            <a:ahLst/>
            <a:cxnLst/>
            <a:rect r="r" b="b" t="t" l="l"/>
            <a:pathLst>
              <a:path h="4114800" w="6103108">
                <a:moveTo>
                  <a:pt x="0" y="0"/>
                </a:moveTo>
                <a:lnTo>
                  <a:pt x="6103109" y="0"/>
                </a:lnTo>
                <a:lnTo>
                  <a:pt x="610310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2184892" y="-1028700"/>
            <a:ext cx="6103108" cy="4114800"/>
          </a:xfrm>
          <a:custGeom>
            <a:avLst/>
            <a:gdLst/>
            <a:ahLst/>
            <a:cxnLst/>
            <a:rect r="r" b="b" t="t" l="l"/>
            <a:pathLst>
              <a:path h="4114800" w="6103108">
                <a:moveTo>
                  <a:pt x="6103108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103108" y="0"/>
                </a:lnTo>
                <a:lnTo>
                  <a:pt x="6103108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254823" y="-455023"/>
            <a:ext cx="5040401" cy="4114800"/>
          </a:xfrm>
          <a:custGeom>
            <a:avLst/>
            <a:gdLst/>
            <a:ahLst/>
            <a:cxnLst/>
            <a:rect r="r" b="b" t="t" l="l"/>
            <a:pathLst>
              <a:path h="4114800" w="5040401">
                <a:moveTo>
                  <a:pt x="0" y="0"/>
                </a:moveTo>
                <a:lnTo>
                  <a:pt x="5040401" y="0"/>
                </a:lnTo>
                <a:lnTo>
                  <a:pt x="504040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72605" y="6043612"/>
            <a:ext cx="2369825" cy="2300885"/>
          </a:xfrm>
          <a:custGeom>
            <a:avLst/>
            <a:gdLst/>
            <a:ahLst/>
            <a:cxnLst/>
            <a:rect r="r" b="b" t="t" l="l"/>
            <a:pathLst>
              <a:path h="2300885" w="2369825">
                <a:moveTo>
                  <a:pt x="0" y="0"/>
                </a:moveTo>
                <a:lnTo>
                  <a:pt x="2369825" y="0"/>
                </a:lnTo>
                <a:lnTo>
                  <a:pt x="2369825" y="2300885"/>
                </a:lnTo>
                <a:lnTo>
                  <a:pt x="0" y="230088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0">
            <a:off x="0" y="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4114800"/>
                </a:moveTo>
                <a:lnTo>
                  <a:pt x="4114800" y="4114800"/>
                </a:lnTo>
                <a:lnTo>
                  <a:pt x="411480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14418111" y="61722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4114800" y="0"/>
                </a:moveTo>
                <a:lnTo>
                  <a:pt x="0" y="0"/>
                </a:lnTo>
                <a:lnTo>
                  <a:pt x="0" y="4114800"/>
                </a:lnTo>
                <a:lnTo>
                  <a:pt x="4114800" y="4114800"/>
                </a:lnTo>
                <a:lnTo>
                  <a:pt x="411480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696442" y="3245803"/>
            <a:ext cx="9785314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NIZAM COLLEGE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690402" y="6067425"/>
            <a:ext cx="4546044" cy="8698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33"/>
              </a:lnSpc>
            </a:pPr>
            <a:r>
              <a:rPr lang="en-US" sz="5024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Submitted by 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532116" y="7276472"/>
            <a:ext cx="3265685" cy="7703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43"/>
              </a:lnSpc>
            </a:pPr>
            <a:r>
              <a:rPr lang="en-US" sz="453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Pavar Kiran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F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64261" y="6677503"/>
            <a:ext cx="6103108" cy="4114800"/>
          </a:xfrm>
          <a:custGeom>
            <a:avLst/>
            <a:gdLst/>
            <a:ahLst/>
            <a:cxnLst/>
            <a:rect r="r" b="b" t="t" l="l"/>
            <a:pathLst>
              <a:path h="4114800" w="6103108">
                <a:moveTo>
                  <a:pt x="0" y="0"/>
                </a:moveTo>
                <a:lnTo>
                  <a:pt x="6103109" y="0"/>
                </a:lnTo>
                <a:lnTo>
                  <a:pt x="610310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2184892" y="-1028700"/>
            <a:ext cx="6103108" cy="4114800"/>
          </a:xfrm>
          <a:custGeom>
            <a:avLst/>
            <a:gdLst/>
            <a:ahLst/>
            <a:cxnLst/>
            <a:rect r="r" b="b" t="t" l="l"/>
            <a:pathLst>
              <a:path h="4114800" w="6103108">
                <a:moveTo>
                  <a:pt x="6103108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103108" y="0"/>
                </a:lnTo>
                <a:lnTo>
                  <a:pt x="6103108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254823" y="-455023"/>
            <a:ext cx="5040401" cy="4114800"/>
          </a:xfrm>
          <a:custGeom>
            <a:avLst/>
            <a:gdLst/>
            <a:ahLst/>
            <a:cxnLst/>
            <a:rect r="r" b="b" t="t" l="l"/>
            <a:pathLst>
              <a:path h="4114800" w="5040401">
                <a:moveTo>
                  <a:pt x="0" y="0"/>
                </a:moveTo>
                <a:lnTo>
                  <a:pt x="5040401" y="0"/>
                </a:lnTo>
                <a:lnTo>
                  <a:pt x="504040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72605" y="6043612"/>
            <a:ext cx="2369825" cy="2300885"/>
          </a:xfrm>
          <a:custGeom>
            <a:avLst/>
            <a:gdLst/>
            <a:ahLst/>
            <a:cxnLst/>
            <a:rect r="r" b="b" t="t" l="l"/>
            <a:pathLst>
              <a:path h="2300885" w="2369825">
                <a:moveTo>
                  <a:pt x="0" y="0"/>
                </a:moveTo>
                <a:lnTo>
                  <a:pt x="2369825" y="0"/>
                </a:lnTo>
                <a:lnTo>
                  <a:pt x="2369825" y="2300885"/>
                </a:lnTo>
                <a:lnTo>
                  <a:pt x="0" y="230088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0">
            <a:off x="0" y="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4114800"/>
                </a:moveTo>
                <a:lnTo>
                  <a:pt x="4114800" y="4114800"/>
                </a:lnTo>
                <a:lnTo>
                  <a:pt x="411480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14418111" y="61722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4114800" y="0"/>
                </a:moveTo>
                <a:lnTo>
                  <a:pt x="0" y="0"/>
                </a:lnTo>
                <a:lnTo>
                  <a:pt x="0" y="4114800"/>
                </a:lnTo>
                <a:lnTo>
                  <a:pt x="4114800" y="4114800"/>
                </a:lnTo>
                <a:lnTo>
                  <a:pt x="411480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724632" y="3648400"/>
            <a:ext cx="14833193" cy="1877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488"/>
              </a:lnSpc>
            </a:pPr>
            <a:r>
              <a:rPr lang="en-US" sz="11062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Financial Institutions 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F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61722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4425139" y="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247877" y="1933575"/>
            <a:ext cx="5685179" cy="1140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343"/>
              </a:lnSpc>
            </a:pPr>
            <a:r>
              <a:rPr lang="en-US" sz="6674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Introduction :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47877" y="3534410"/>
            <a:ext cx="15204660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Financial institutions are organizations that provide financial services.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47877" y="4430565"/>
            <a:ext cx="13388417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They help in saving , investing, lending and borrowing money.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47877" y="5326720"/>
            <a:ext cx="10456340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They play a key role in economic development.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F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12337292" y="-876300"/>
            <a:ext cx="6103108" cy="4114800"/>
          </a:xfrm>
          <a:custGeom>
            <a:avLst/>
            <a:gdLst/>
            <a:ahLst/>
            <a:cxnLst/>
            <a:rect r="r" b="b" t="t" l="l"/>
            <a:pathLst>
              <a:path h="4114800" w="6103108">
                <a:moveTo>
                  <a:pt x="6103108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103108" y="0"/>
                </a:lnTo>
                <a:lnTo>
                  <a:pt x="6103108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407223" y="-302623"/>
            <a:ext cx="5040401" cy="4114800"/>
          </a:xfrm>
          <a:custGeom>
            <a:avLst/>
            <a:gdLst/>
            <a:ahLst/>
            <a:cxnLst/>
            <a:rect r="r" b="b" t="t" l="l"/>
            <a:pathLst>
              <a:path h="4114800" w="5040401">
                <a:moveTo>
                  <a:pt x="0" y="0"/>
                </a:moveTo>
                <a:lnTo>
                  <a:pt x="5040401" y="0"/>
                </a:lnTo>
                <a:lnTo>
                  <a:pt x="504040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826735" y="6747939"/>
            <a:ext cx="6103108" cy="4114800"/>
          </a:xfrm>
          <a:custGeom>
            <a:avLst/>
            <a:gdLst/>
            <a:ahLst/>
            <a:cxnLst/>
            <a:rect r="r" b="b" t="t" l="l"/>
            <a:pathLst>
              <a:path h="4114800" w="6103108">
                <a:moveTo>
                  <a:pt x="0" y="0"/>
                </a:moveTo>
                <a:lnTo>
                  <a:pt x="6103108" y="0"/>
                </a:lnTo>
                <a:lnTo>
                  <a:pt x="610310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10130" y="6114049"/>
            <a:ext cx="2369825" cy="2300885"/>
          </a:xfrm>
          <a:custGeom>
            <a:avLst/>
            <a:gdLst/>
            <a:ahLst/>
            <a:cxnLst/>
            <a:rect r="r" b="b" t="t" l="l"/>
            <a:pathLst>
              <a:path h="2300885" w="2369825">
                <a:moveTo>
                  <a:pt x="0" y="0"/>
                </a:moveTo>
                <a:lnTo>
                  <a:pt x="2369825" y="0"/>
                </a:lnTo>
                <a:lnTo>
                  <a:pt x="2369825" y="2300885"/>
                </a:lnTo>
                <a:lnTo>
                  <a:pt x="0" y="230088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638996" y="3545637"/>
            <a:ext cx="6022718" cy="3907238"/>
          </a:xfrm>
          <a:custGeom>
            <a:avLst/>
            <a:gdLst/>
            <a:ahLst/>
            <a:cxnLst/>
            <a:rect r="r" b="b" t="t" l="l"/>
            <a:pathLst>
              <a:path h="3907238" w="6022718">
                <a:moveTo>
                  <a:pt x="0" y="0"/>
                </a:moveTo>
                <a:lnTo>
                  <a:pt x="6022718" y="0"/>
                </a:lnTo>
                <a:lnTo>
                  <a:pt x="6022718" y="3907238"/>
                </a:lnTo>
                <a:lnTo>
                  <a:pt x="0" y="390723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314067" y="1151911"/>
            <a:ext cx="11981631" cy="1071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715"/>
              </a:lnSpc>
            </a:pPr>
            <a:r>
              <a:rPr lang="en-US" sz="6225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Types of Financial Institutions :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14067" y="3035436"/>
            <a:ext cx="6126896" cy="1477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923403" indent="-461702" lvl="1">
              <a:lnSpc>
                <a:spcPts val="5987"/>
              </a:lnSpc>
              <a:buFont typeface="Arial"/>
              <a:buChar char="•"/>
            </a:pPr>
            <a:r>
              <a:rPr lang="en-US" sz="427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Banking Institutions</a:t>
            </a:r>
          </a:p>
          <a:p>
            <a:pPr algn="ctr">
              <a:lnSpc>
                <a:spcPts val="5987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314067" y="4134630"/>
            <a:ext cx="9659100" cy="689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889970" indent="-444985" lvl="1">
              <a:lnSpc>
                <a:spcPts val="5770"/>
              </a:lnSpc>
              <a:buFont typeface="Arial"/>
              <a:buChar char="•"/>
            </a:pPr>
            <a:r>
              <a:rPr lang="en-US" sz="412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Non-Banking Financial Institutions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14067" y="5069483"/>
            <a:ext cx="10225453" cy="723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924247" indent="-462123" lvl="1">
              <a:lnSpc>
                <a:spcPts val="5993"/>
              </a:lnSpc>
              <a:buFont typeface="Arial"/>
              <a:buChar char="•"/>
            </a:pPr>
            <a:r>
              <a:rPr lang="en-US" sz="428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Development Financial Institutions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14067" y="6030622"/>
            <a:ext cx="7367101" cy="762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967186" indent="-483593" lvl="1">
              <a:lnSpc>
                <a:spcPts val="6271"/>
              </a:lnSpc>
              <a:buFont typeface="Arial"/>
              <a:buChar char="•"/>
            </a:pPr>
            <a:r>
              <a:rPr lang="en-US" sz="447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Regulatory Institutions 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F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61722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4425139" y="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895350"/>
            <a:ext cx="9010574" cy="11746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13"/>
              </a:lnSpc>
            </a:pPr>
            <a:r>
              <a:rPr lang="en-US" sz="6866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Banking Institutions :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2596730"/>
            <a:ext cx="6425599" cy="8157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1029508" indent="-514754" lvl="1">
              <a:lnSpc>
                <a:spcPts val="6675"/>
              </a:lnSpc>
              <a:buFont typeface="Arial"/>
              <a:buChar char="•"/>
            </a:pPr>
            <a:r>
              <a:rPr lang="en-US" sz="476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Commercial Banks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3638800"/>
            <a:ext cx="12263292" cy="856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1091761" indent="-545881" lvl="1">
              <a:lnSpc>
                <a:spcPts val="7079"/>
              </a:lnSpc>
              <a:buFont typeface="Arial"/>
              <a:buChar char="•"/>
            </a:pPr>
            <a:r>
              <a:rPr lang="en-US" sz="505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Central Bank (Reserve Bank of India)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4714625"/>
            <a:ext cx="7123418" cy="8946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1128647" indent="-564323" lvl="1">
              <a:lnSpc>
                <a:spcPts val="7318"/>
              </a:lnSpc>
              <a:buFont typeface="Arial"/>
              <a:buChar char="•"/>
            </a:pPr>
            <a:r>
              <a:rPr lang="en-US" sz="522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Cooperative Banks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44054" y="5926748"/>
            <a:ext cx="8013208" cy="893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1140074" indent="-570037" lvl="1">
              <a:lnSpc>
                <a:spcPts val="7392"/>
              </a:lnSpc>
              <a:buFont typeface="Arial"/>
              <a:buChar char="•"/>
            </a:pPr>
            <a:r>
              <a:rPr lang="en-US" sz="528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Regional Rural Banks 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F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-250222" y="-103861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4114800"/>
                </a:moveTo>
                <a:lnTo>
                  <a:pt x="4114800" y="4114800"/>
                </a:lnTo>
                <a:lnTo>
                  <a:pt x="411480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4425139" y="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023819" y="1448398"/>
            <a:ext cx="6347528" cy="4340122"/>
          </a:xfrm>
          <a:custGeom>
            <a:avLst/>
            <a:gdLst/>
            <a:ahLst/>
            <a:cxnLst/>
            <a:rect r="r" b="b" t="t" l="l"/>
            <a:pathLst>
              <a:path h="4340122" w="6347528">
                <a:moveTo>
                  <a:pt x="0" y="0"/>
                </a:moveTo>
                <a:lnTo>
                  <a:pt x="6347527" y="0"/>
                </a:lnTo>
                <a:lnTo>
                  <a:pt x="6347527" y="4340122"/>
                </a:lnTo>
                <a:lnTo>
                  <a:pt x="0" y="43401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149624" y="1502156"/>
            <a:ext cx="5667297" cy="14227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678"/>
              </a:lnSpc>
            </a:pPr>
            <a:r>
              <a:rPr lang="en-US" sz="8342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Functions :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71753" y="3195656"/>
            <a:ext cx="7473727" cy="1049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93"/>
              </a:lnSpc>
            </a:pPr>
            <a:r>
              <a:rPr lang="en-US" sz="6138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Commercial Banks :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71753" y="4716469"/>
            <a:ext cx="6278603" cy="7683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975400" indent="-487700" lvl="1">
              <a:lnSpc>
                <a:spcPts val="6324"/>
              </a:lnSpc>
              <a:buFont typeface="Arial"/>
              <a:buChar char="•"/>
            </a:pPr>
            <a:r>
              <a:rPr lang="en-US" sz="451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Accepting deposits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71753" y="5637569"/>
            <a:ext cx="8523576" cy="691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893463" indent="-446731" lvl="1">
              <a:lnSpc>
                <a:spcPts val="5793"/>
              </a:lnSpc>
              <a:buFont typeface="Arial"/>
              <a:buChar char="•"/>
            </a:pPr>
            <a:r>
              <a:rPr lang="en-US" sz="413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Providing loans and advances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71753" y="6462864"/>
            <a:ext cx="5228176" cy="7630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967786" indent="-483893" lvl="1">
              <a:lnSpc>
                <a:spcPts val="6275"/>
              </a:lnSpc>
              <a:buFont typeface="Arial"/>
              <a:buChar char="•"/>
            </a:pPr>
            <a:r>
              <a:rPr lang="en-US" sz="448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Credit creation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571753" y="7349697"/>
            <a:ext cx="12866878" cy="764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956342" indent="-478171" lvl="1">
              <a:lnSpc>
                <a:spcPts val="6201"/>
              </a:lnSpc>
              <a:buFont typeface="Arial"/>
              <a:buChar char="•"/>
            </a:pPr>
            <a:r>
              <a:rPr lang="en-US" sz="442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Agency services  (cheques,drafts, transfers )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F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61722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4425139" y="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876671" y="1975608"/>
            <a:ext cx="5033205" cy="5584694"/>
          </a:xfrm>
          <a:custGeom>
            <a:avLst/>
            <a:gdLst/>
            <a:ahLst/>
            <a:cxnLst/>
            <a:rect r="r" b="b" t="t" l="l"/>
            <a:pathLst>
              <a:path h="5584694" w="5033205">
                <a:moveTo>
                  <a:pt x="0" y="0"/>
                </a:moveTo>
                <a:lnTo>
                  <a:pt x="5033206" y="0"/>
                </a:lnTo>
                <a:lnTo>
                  <a:pt x="5033206" y="5584693"/>
                </a:lnTo>
                <a:lnTo>
                  <a:pt x="0" y="558469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921402"/>
            <a:ext cx="7897066" cy="11359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305"/>
              </a:lnSpc>
            </a:pPr>
            <a:r>
              <a:rPr lang="en-US" sz="6646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Central Bank - RBI :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2535148"/>
            <a:ext cx="6709671" cy="740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935999" indent="-468000" lvl="1">
              <a:lnSpc>
                <a:spcPts val="6069"/>
              </a:lnSpc>
              <a:buFont typeface="Arial"/>
              <a:buChar char="•"/>
            </a:pPr>
            <a:r>
              <a:rPr lang="en-US" sz="433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Issues currency notes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3689260"/>
            <a:ext cx="10164368" cy="7558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943917" indent="-471959" lvl="1">
              <a:lnSpc>
                <a:spcPts val="6120"/>
              </a:lnSpc>
              <a:buFont typeface="Arial"/>
              <a:buChar char="•"/>
            </a:pPr>
            <a:r>
              <a:rPr lang="en-US" sz="437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Controls credit and money supply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4864190"/>
            <a:ext cx="8656192" cy="796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1015290" indent="-507645" lvl="1">
              <a:lnSpc>
                <a:spcPts val="6583"/>
              </a:lnSpc>
              <a:buFont typeface="Arial"/>
              <a:buChar char="•"/>
            </a:pPr>
            <a:r>
              <a:rPr lang="en-US" sz="470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Banker to the government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6079543"/>
            <a:ext cx="9123953" cy="742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937820" indent="-468910" lvl="1">
              <a:lnSpc>
                <a:spcPts val="6081"/>
              </a:lnSpc>
              <a:buFont typeface="Arial"/>
              <a:buChar char="•"/>
            </a:pPr>
            <a:r>
              <a:rPr lang="en-US" sz="434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Custodian of foreign exchange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7288305"/>
            <a:ext cx="8771670" cy="7543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941784" indent="-470892" lvl="1">
              <a:lnSpc>
                <a:spcPts val="6106"/>
              </a:lnSpc>
              <a:buFont typeface="Arial"/>
              <a:buChar char="•"/>
            </a:pPr>
            <a:r>
              <a:rPr lang="en-US" sz="436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Controller of banking system 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F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61722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4425139" y="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279512" y="2565579"/>
            <a:ext cx="6291253" cy="3098442"/>
          </a:xfrm>
          <a:custGeom>
            <a:avLst/>
            <a:gdLst/>
            <a:ahLst/>
            <a:cxnLst/>
            <a:rect r="r" b="b" t="t" l="l"/>
            <a:pathLst>
              <a:path h="3098442" w="6291253">
                <a:moveTo>
                  <a:pt x="0" y="0"/>
                </a:moveTo>
                <a:lnTo>
                  <a:pt x="6291253" y="0"/>
                </a:lnTo>
                <a:lnTo>
                  <a:pt x="6291253" y="3098442"/>
                </a:lnTo>
                <a:lnTo>
                  <a:pt x="0" y="309844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835913"/>
            <a:ext cx="8880043" cy="1221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91"/>
              </a:lnSpc>
            </a:pPr>
            <a:r>
              <a:rPr lang="en-US" sz="7208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Cooperative Banks :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2633023"/>
            <a:ext cx="10102217" cy="7104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906265" indent="-453133" lvl="1">
              <a:lnSpc>
                <a:spcPts val="5876"/>
              </a:lnSpc>
              <a:buFont typeface="Arial"/>
              <a:buChar char="•"/>
            </a:pPr>
            <a:r>
              <a:rPr lang="en-US" sz="419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Member-owned financial institution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3717204"/>
            <a:ext cx="10080558" cy="718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918501" indent="-459251" lvl="1">
              <a:lnSpc>
                <a:spcPts val="5956"/>
              </a:lnSpc>
              <a:buFont typeface="Arial"/>
              <a:buChar char="•"/>
            </a:pPr>
            <a:r>
              <a:rPr lang="en-US" sz="425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Operates on cooperative principles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4697179"/>
            <a:ext cx="8011520" cy="8069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1030528" indent="-515264" lvl="1">
              <a:lnSpc>
                <a:spcPts val="6682"/>
              </a:lnSpc>
              <a:buFont typeface="Arial"/>
              <a:buChar char="•"/>
            </a:pPr>
            <a:r>
              <a:rPr lang="en-US" sz="477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One member = one vote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5866046"/>
            <a:ext cx="10783657" cy="7687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976021" indent="-488011" lvl="1">
              <a:lnSpc>
                <a:spcPts val="6328"/>
              </a:lnSpc>
              <a:buFont typeface="Arial"/>
              <a:buChar char="•"/>
            </a:pPr>
            <a:r>
              <a:rPr lang="en-US" sz="452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Provides deposits ,loans and credit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6816" y="7048558"/>
            <a:ext cx="12799685" cy="815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1028668" indent="-514334" lvl="1">
              <a:lnSpc>
                <a:spcPts val="6670"/>
              </a:lnSpc>
              <a:buFont typeface="Arial"/>
              <a:buChar char="•"/>
            </a:pPr>
            <a:r>
              <a:rPr lang="en-US" sz="476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Focuses on local and rural development 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F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12337292" y="-876300"/>
            <a:ext cx="6103108" cy="4114800"/>
          </a:xfrm>
          <a:custGeom>
            <a:avLst/>
            <a:gdLst/>
            <a:ahLst/>
            <a:cxnLst/>
            <a:rect r="r" b="b" t="t" l="l"/>
            <a:pathLst>
              <a:path h="4114800" w="6103108">
                <a:moveTo>
                  <a:pt x="6103108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103108" y="0"/>
                </a:lnTo>
                <a:lnTo>
                  <a:pt x="6103108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407223" y="-302623"/>
            <a:ext cx="5040401" cy="4114800"/>
          </a:xfrm>
          <a:custGeom>
            <a:avLst/>
            <a:gdLst/>
            <a:ahLst/>
            <a:cxnLst/>
            <a:rect r="r" b="b" t="t" l="l"/>
            <a:pathLst>
              <a:path h="4114800" w="5040401">
                <a:moveTo>
                  <a:pt x="0" y="0"/>
                </a:moveTo>
                <a:lnTo>
                  <a:pt x="5040401" y="0"/>
                </a:lnTo>
                <a:lnTo>
                  <a:pt x="504040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826735" y="6747939"/>
            <a:ext cx="6103108" cy="4114800"/>
          </a:xfrm>
          <a:custGeom>
            <a:avLst/>
            <a:gdLst/>
            <a:ahLst/>
            <a:cxnLst/>
            <a:rect r="r" b="b" t="t" l="l"/>
            <a:pathLst>
              <a:path h="4114800" w="6103108">
                <a:moveTo>
                  <a:pt x="0" y="0"/>
                </a:moveTo>
                <a:lnTo>
                  <a:pt x="6103108" y="0"/>
                </a:lnTo>
                <a:lnTo>
                  <a:pt x="610310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10130" y="6114049"/>
            <a:ext cx="2369825" cy="2300885"/>
          </a:xfrm>
          <a:custGeom>
            <a:avLst/>
            <a:gdLst/>
            <a:ahLst/>
            <a:cxnLst/>
            <a:rect r="r" b="b" t="t" l="l"/>
            <a:pathLst>
              <a:path h="2300885" w="2369825">
                <a:moveTo>
                  <a:pt x="0" y="0"/>
                </a:moveTo>
                <a:lnTo>
                  <a:pt x="2369825" y="0"/>
                </a:lnTo>
                <a:lnTo>
                  <a:pt x="2369825" y="2300885"/>
                </a:lnTo>
                <a:lnTo>
                  <a:pt x="0" y="230088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848216" y="6153726"/>
            <a:ext cx="7029724" cy="3901497"/>
          </a:xfrm>
          <a:custGeom>
            <a:avLst/>
            <a:gdLst/>
            <a:ahLst/>
            <a:cxnLst/>
            <a:rect r="r" b="b" t="t" l="l"/>
            <a:pathLst>
              <a:path h="3901497" w="7029724">
                <a:moveTo>
                  <a:pt x="0" y="0"/>
                </a:moveTo>
                <a:lnTo>
                  <a:pt x="7029724" y="0"/>
                </a:lnTo>
                <a:lnTo>
                  <a:pt x="7029724" y="3901497"/>
                </a:lnTo>
                <a:lnTo>
                  <a:pt x="0" y="390149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904875"/>
            <a:ext cx="11853925" cy="1125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209"/>
              </a:lnSpc>
            </a:pPr>
            <a:r>
              <a:rPr lang="en-US" sz="6578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Regional Rural Banks (RRBs) :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2374325"/>
            <a:ext cx="11229234" cy="864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1085124" indent="-542562" lvl="1">
              <a:lnSpc>
                <a:spcPts val="7036"/>
              </a:lnSpc>
              <a:buFont typeface="Arial"/>
              <a:buChar char="•"/>
            </a:pPr>
            <a:r>
              <a:rPr lang="en-US" sz="502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Serve rural and semi-urban areas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3619590"/>
            <a:ext cx="13028276" cy="810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1021350" indent="-510675" lvl="1">
              <a:lnSpc>
                <a:spcPts val="6622"/>
              </a:lnSpc>
              <a:buFont typeface="Arial"/>
              <a:buChar char="•"/>
            </a:pPr>
            <a:r>
              <a:rPr lang="en-US" sz="473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Support farmers and small entrepreneurs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4810609"/>
            <a:ext cx="10761751" cy="845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1071925" indent="-535963" lvl="1">
              <a:lnSpc>
                <a:spcPts val="6950"/>
              </a:lnSpc>
              <a:buFont typeface="Arial"/>
              <a:buChar char="•"/>
            </a:pPr>
            <a:r>
              <a:rPr lang="en-US" sz="496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Provide basic banking and loans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6027497"/>
            <a:ext cx="9636541" cy="86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1086611" indent="-543306" lvl="1">
              <a:lnSpc>
                <a:spcPts val="7046"/>
              </a:lnSpc>
              <a:buFont typeface="Arial"/>
              <a:buChar char="•"/>
            </a:pPr>
            <a:r>
              <a:rPr lang="en-US" sz="503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Promote financial inclusion 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F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-250222" y="-103861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4114800"/>
                </a:moveTo>
                <a:lnTo>
                  <a:pt x="4114800" y="4114800"/>
                </a:lnTo>
                <a:lnTo>
                  <a:pt x="411480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4425139" y="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955327"/>
            <a:ext cx="14205504" cy="1102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93"/>
              </a:lnSpc>
            </a:pPr>
            <a:r>
              <a:rPr lang="en-US" sz="6424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Non-Banking Financial Institutions :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2661839"/>
            <a:ext cx="7600309" cy="8192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1048105" indent="-524053" lvl="1">
              <a:lnSpc>
                <a:spcPts val="6796"/>
              </a:lnSpc>
              <a:buFont typeface="Arial"/>
              <a:buChar char="•"/>
            </a:pPr>
            <a:r>
              <a:rPr lang="en-US" sz="485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Insurance Companies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3925214"/>
            <a:ext cx="5034492" cy="810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1036040" indent="-518020" lvl="1">
              <a:lnSpc>
                <a:spcPts val="6718"/>
              </a:lnSpc>
              <a:buFont typeface="Arial"/>
              <a:buChar char="•"/>
            </a:pPr>
            <a:r>
              <a:rPr lang="en-US" sz="479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Mutual Funds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5057775"/>
            <a:ext cx="6671927" cy="785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999781" indent="-499890" lvl="1">
              <a:lnSpc>
                <a:spcPts val="6483"/>
              </a:lnSpc>
              <a:buFont typeface="Arial"/>
              <a:buChar char="•"/>
            </a:pPr>
            <a:r>
              <a:rPr lang="en-US" sz="463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Finance Companies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6157499"/>
            <a:ext cx="5261805" cy="815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1028930" indent="-514465" lvl="1">
              <a:lnSpc>
                <a:spcPts val="6672"/>
              </a:lnSpc>
              <a:buFont typeface="Arial"/>
              <a:buChar char="•"/>
            </a:pPr>
            <a:r>
              <a:rPr lang="en-US" sz="476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Pension Funds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7296673"/>
            <a:ext cx="4112601" cy="797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1017533" indent="-508766" lvl="1">
              <a:lnSpc>
                <a:spcPts val="6598"/>
              </a:lnSpc>
              <a:buFont typeface="Arial"/>
              <a:buChar char="•"/>
            </a:pPr>
            <a:r>
              <a:rPr lang="en-US" sz="471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Chit Funds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F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12337292" y="-876300"/>
            <a:ext cx="6103108" cy="4114800"/>
          </a:xfrm>
          <a:custGeom>
            <a:avLst/>
            <a:gdLst/>
            <a:ahLst/>
            <a:cxnLst/>
            <a:rect r="r" b="b" t="t" l="l"/>
            <a:pathLst>
              <a:path h="4114800" w="6103108">
                <a:moveTo>
                  <a:pt x="6103108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103108" y="0"/>
                </a:lnTo>
                <a:lnTo>
                  <a:pt x="6103108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407223" y="-302623"/>
            <a:ext cx="5040401" cy="4114800"/>
          </a:xfrm>
          <a:custGeom>
            <a:avLst/>
            <a:gdLst/>
            <a:ahLst/>
            <a:cxnLst/>
            <a:rect r="r" b="b" t="t" l="l"/>
            <a:pathLst>
              <a:path h="4114800" w="5040401">
                <a:moveTo>
                  <a:pt x="0" y="0"/>
                </a:moveTo>
                <a:lnTo>
                  <a:pt x="5040401" y="0"/>
                </a:lnTo>
                <a:lnTo>
                  <a:pt x="504040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826735" y="6747939"/>
            <a:ext cx="6103108" cy="4114800"/>
          </a:xfrm>
          <a:custGeom>
            <a:avLst/>
            <a:gdLst/>
            <a:ahLst/>
            <a:cxnLst/>
            <a:rect r="r" b="b" t="t" l="l"/>
            <a:pathLst>
              <a:path h="4114800" w="6103108">
                <a:moveTo>
                  <a:pt x="0" y="0"/>
                </a:moveTo>
                <a:lnTo>
                  <a:pt x="6103108" y="0"/>
                </a:lnTo>
                <a:lnTo>
                  <a:pt x="610310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10130" y="6114049"/>
            <a:ext cx="2369825" cy="2300885"/>
          </a:xfrm>
          <a:custGeom>
            <a:avLst/>
            <a:gdLst/>
            <a:ahLst/>
            <a:cxnLst/>
            <a:rect r="r" b="b" t="t" l="l"/>
            <a:pathLst>
              <a:path h="2300885" w="2369825">
                <a:moveTo>
                  <a:pt x="0" y="0"/>
                </a:moveTo>
                <a:lnTo>
                  <a:pt x="2369825" y="0"/>
                </a:lnTo>
                <a:lnTo>
                  <a:pt x="2369825" y="2300885"/>
                </a:lnTo>
                <a:lnTo>
                  <a:pt x="0" y="230088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933450"/>
            <a:ext cx="11330367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Functions of Financial Institutions :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10155" y="2107837"/>
            <a:ext cx="7532435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Mobilize savings from the public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10155" y="2973977"/>
            <a:ext cx="7751727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Provide loans and credit facilities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80401" y="3745502"/>
            <a:ext cx="6340241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Promote capital formation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595043" y="4611642"/>
            <a:ext cx="9105413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Facilitate payments and money transfer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95043" y="5477782"/>
            <a:ext cx="10229905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Manage financial risks (insurance, guarantees)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10155" y="6424407"/>
            <a:ext cx="10100288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Encourage investment and economic growth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510155" y="7290547"/>
            <a:ext cx="10729751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Support trade, industry , agriculture and MSMEs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10155" y="8156687"/>
            <a:ext cx="10281372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Promote financial inclusion and development 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F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12337292" y="-876300"/>
            <a:ext cx="6103108" cy="4114800"/>
          </a:xfrm>
          <a:custGeom>
            <a:avLst/>
            <a:gdLst/>
            <a:ahLst/>
            <a:cxnLst/>
            <a:rect r="r" b="b" t="t" l="l"/>
            <a:pathLst>
              <a:path h="4114800" w="6103108">
                <a:moveTo>
                  <a:pt x="6103108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103108" y="0"/>
                </a:lnTo>
                <a:lnTo>
                  <a:pt x="6103108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407223" y="-302623"/>
            <a:ext cx="5040401" cy="4114800"/>
          </a:xfrm>
          <a:custGeom>
            <a:avLst/>
            <a:gdLst/>
            <a:ahLst/>
            <a:cxnLst/>
            <a:rect r="r" b="b" t="t" l="l"/>
            <a:pathLst>
              <a:path h="4114800" w="5040401">
                <a:moveTo>
                  <a:pt x="0" y="0"/>
                </a:moveTo>
                <a:lnTo>
                  <a:pt x="5040401" y="0"/>
                </a:lnTo>
                <a:lnTo>
                  <a:pt x="504040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826735" y="6747939"/>
            <a:ext cx="6103108" cy="4114800"/>
          </a:xfrm>
          <a:custGeom>
            <a:avLst/>
            <a:gdLst/>
            <a:ahLst/>
            <a:cxnLst/>
            <a:rect r="r" b="b" t="t" l="l"/>
            <a:pathLst>
              <a:path h="4114800" w="6103108">
                <a:moveTo>
                  <a:pt x="0" y="0"/>
                </a:moveTo>
                <a:lnTo>
                  <a:pt x="6103108" y="0"/>
                </a:lnTo>
                <a:lnTo>
                  <a:pt x="610310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10130" y="6114049"/>
            <a:ext cx="2369825" cy="2300885"/>
          </a:xfrm>
          <a:custGeom>
            <a:avLst/>
            <a:gdLst/>
            <a:ahLst/>
            <a:cxnLst/>
            <a:rect r="r" b="b" t="t" l="l"/>
            <a:pathLst>
              <a:path h="2300885" w="2369825">
                <a:moveTo>
                  <a:pt x="0" y="0"/>
                </a:moveTo>
                <a:lnTo>
                  <a:pt x="2369825" y="0"/>
                </a:lnTo>
                <a:lnTo>
                  <a:pt x="2369825" y="2300885"/>
                </a:lnTo>
                <a:lnTo>
                  <a:pt x="0" y="230088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116939" y="1630952"/>
            <a:ext cx="14271907" cy="10726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723"/>
              </a:lnSpc>
            </a:pPr>
            <a:r>
              <a:rPr lang="en-US" sz="623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Importance of Financial Institutions :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16939" y="3386904"/>
            <a:ext cx="10862572" cy="755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943155" indent="-471578" lvl="1">
              <a:lnSpc>
                <a:spcPts val="6115"/>
              </a:lnSpc>
              <a:buFont typeface="Arial"/>
              <a:buChar char="•"/>
            </a:pPr>
            <a:r>
              <a:rPr lang="en-US" sz="436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Encourages savings and investments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16939" y="4367108"/>
            <a:ext cx="8507725" cy="776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986910" indent="-493455" lvl="1">
              <a:lnSpc>
                <a:spcPts val="6399"/>
              </a:lnSpc>
              <a:buFont typeface="Arial"/>
              <a:buChar char="•"/>
            </a:pPr>
            <a:r>
              <a:rPr lang="en-US" sz="457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Provides financial security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5304441"/>
            <a:ext cx="9434700" cy="809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1034374" indent="-517187" lvl="1">
              <a:lnSpc>
                <a:spcPts val="6707"/>
              </a:lnSpc>
              <a:buFont typeface="Arial"/>
              <a:buChar char="•"/>
            </a:pPr>
            <a:r>
              <a:rPr lang="en-US" sz="479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Supports business and trade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83266" y="6274521"/>
            <a:ext cx="10494092" cy="769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977354" indent="-488677" lvl="1">
              <a:lnSpc>
                <a:spcPts val="6337"/>
              </a:lnSpc>
              <a:buFont typeface="Arial"/>
              <a:buChar char="•"/>
            </a:pPr>
            <a:r>
              <a:rPr lang="en-US" sz="452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Promotes economic development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12852" y="7238328"/>
            <a:ext cx="7980942" cy="8115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1023604" indent="-511802" lvl="1">
              <a:lnSpc>
                <a:spcPts val="6637"/>
              </a:lnSpc>
              <a:buFont typeface="Arial"/>
              <a:buChar char="•"/>
            </a:pPr>
            <a:r>
              <a:rPr lang="en-US" sz="474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Generates employment 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F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12337292" y="-876300"/>
            <a:ext cx="6103108" cy="4114800"/>
          </a:xfrm>
          <a:custGeom>
            <a:avLst/>
            <a:gdLst/>
            <a:ahLst/>
            <a:cxnLst/>
            <a:rect r="r" b="b" t="t" l="l"/>
            <a:pathLst>
              <a:path h="4114800" w="6103108">
                <a:moveTo>
                  <a:pt x="6103108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103108" y="0"/>
                </a:lnTo>
                <a:lnTo>
                  <a:pt x="6103108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407223" y="-302623"/>
            <a:ext cx="5040401" cy="4114800"/>
          </a:xfrm>
          <a:custGeom>
            <a:avLst/>
            <a:gdLst/>
            <a:ahLst/>
            <a:cxnLst/>
            <a:rect r="r" b="b" t="t" l="l"/>
            <a:pathLst>
              <a:path h="4114800" w="5040401">
                <a:moveTo>
                  <a:pt x="0" y="0"/>
                </a:moveTo>
                <a:lnTo>
                  <a:pt x="5040401" y="0"/>
                </a:lnTo>
                <a:lnTo>
                  <a:pt x="504040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826735" y="6747939"/>
            <a:ext cx="6103108" cy="4114800"/>
          </a:xfrm>
          <a:custGeom>
            <a:avLst/>
            <a:gdLst/>
            <a:ahLst/>
            <a:cxnLst/>
            <a:rect r="r" b="b" t="t" l="l"/>
            <a:pathLst>
              <a:path h="4114800" w="6103108">
                <a:moveTo>
                  <a:pt x="0" y="0"/>
                </a:moveTo>
                <a:lnTo>
                  <a:pt x="6103108" y="0"/>
                </a:lnTo>
                <a:lnTo>
                  <a:pt x="610310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10130" y="6114049"/>
            <a:ext cx="2369825" cy="2300885"/>
          </a:xfrm>
          <a:custGeom>
            <a:avLst/>
            <a:gdLst/>
            <a:ahLst/>
            <a:cxnLst/>
            <a:rect r="r" b="b" t="t" l="l"/>
            <a:pathLst>
              <a:path h="2300885" w="2369825">
                <a:moveTo>
                  <a:pt x="0" y="0"/>
                </a:moveTo>
                <a:lnTo>
                  <a:pt x="2369825" y="0"/>
                </a:lnTo>
                <a:lnTo>
                  <a:pt x="2369825" y="2300885"/>
                </a:lnTo>
                <a:lnTo>
                  <a:pt x="0" y="230088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1057624"/>
            <a:ext cx="5642248" cy="12609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366"/>
              </a:lnSpc>
            </a:pPr>
            <a:r>
              <a:rPr lang="en-US" sz="7404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Conclusion :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2840211"/>
            <a:ext cx="15366588" cy="720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920481" indent="-460240" lvl="1">
              <a:lnSpc>
                <a:spcPts val="5968"/>
              </a:lnSpc>
              <a:buFont typeface="Arial"/>
              <a:buChar char="•"/>
            </a:pPr>
            <a:r>
              <a:rPr lang="en-US" sz="426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Financial institutions are the backbone of the economy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4084464"/>
            <a:ext cx="13284564" cy="7182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917474" indent="-458737" lvl="1">
              <a:lnSpc>
                <a:spcPts val="5949"/>
              </a:lnSpc>
              <a:buFont typeface="Arial"/>
              <a:buChar char="•"/>
            </a:pPr>
            <a:r>
              <a:rPr lang="en-US" sz="424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They ensure efficient use of financial resources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5326612"/>
            <a:ext cx="12881169" cy="7183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917571" indent="-458786" lvl="1">
              <a:lnSpc>
                <a:spcPts val="5949"/>
              </a:lnSpc>
              <a:buFont typeface="Arial"/>
              <a:buChar char="•"/>
            </a:pPr>
            <a:r>
              <a:rPr lang="en-US" sz="424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Essential for growth and stability of a country 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F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073816" y="3975664"/>
            <a:ext cx="8688208" cy="36019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3373"/>
              </a:lnSpc>
            </a:pPr>
            <a:r>
              <a:rPr lang="en-US" sz="16716" spc="501">
                <a:solidFill>
                  <a:srgbClr val="000000"/>
                </a:solidFill>
                <a:latin typeface="Dynapuff Condensed"/>
                <a:ea typeface="Dynapuff Condensed"/>
                <a:cs typeface="Dynapuff Condensed"/>
                <a:sym typeface="Dynapuff Condensed"/>
              </a:rPr>
              <a:t>THANK YOU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-664261" y="6677503"/>
            <a:ext cx="6103108" cy="4114800"/>
          </a:xfrm>
          <a:custGeom>
            <a:avLst/>
            <a:gdLst/>
            <a:ahLst/>
            <a:cxnLst/>
            <a:rect r="r" b="b" t="t" l="l"/>
            <a:pathLst>
              <a:path h="4114800" w="6103108">
                <a:moveTo>
                  <a:pt x="0" y="0"/>
                </a:moveTo>
                <a:lnTo>
                  <a:pt x="6103109" y="0"/>
                </a:lnTo>
                <a:lnTo>
                  <a:pt x="610310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2184892" y="-1028700"/>
            <a:ext cx="6103108" cy="4114800"/>
          </a:xfrm>
          <a:custGeom>
            <a:avLst/>
            <a:gdLst/>
            <a:ahLst/>
            <a:cxnLst/>
            <a:rect r="r" b="b" t="t" l="l"/>
            <a:pathLst>
              <a:path h="4114800" w="6103108">
                <a:moveTo>
                  <a:pt x="6103108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103108" y="0"/>
                </a:lnTo>
                <a:lnTo>
                  <a:pt x="6103108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254823" y="-455023"/>
            <a:ext cx="5040401" cy="4114800"/>
          </a:xfrm>
          <a:custGeom>
            <a:avLst/>
            <a:gdLst/>
            <a:ahLst/>
            <a:cxnLst/>
            <a:rect r="r" b="b" t="t" l="l"/>
            <a:pathLst>
              <a:path h="4114800" w="5040401">
                <a:moveTo>
                  <a:pt x="0" y="0"/>
                </a:moveTo>
                <a:lnTo>
                  <a:pt x="5040401" y="0"/>
                </a:lnTo>
                <a:lnTo>
                  <a:pt x="504040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72605" y="6043612"/>
            <a:ext cx="2369825" cy="2300885"/>
          </a:xfrm>
          <a:custGeom>
            <a:avLst/>
            <a:gdLst/>
            <a:ahLst/>
            <a:cxnLst/>
            <a:rect r="r" b="b" t="t" l="l"/>
            <a:pathLst>
              <a:path h="2300885" w="2369825">
                <a:moveTo>
                  <a:pt x="0" y="0"/>
                </a:moveTo>
                <a:lnTo>
                  <a:pt x="2369825" y="0"/>
                </a:lnTo>
                <a:lnTo>
                  <a:pt x="2369825" y="2300885"/>
                </a:lnTo>
                <a:lnTo>
                  <a:pt x="0" y="230088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0">
            <a:off x="0" y="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4114800"/>
                </a:moveTo>
                <a:lnTo>
                  <a:pt x="4114800" y="4114800"/>
                </a:lnTo>
                <a:lnTo>
                  <a:pt x="411480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0">
            <a:off x="14173200" y="6287097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4114800" y="0"/>
                </a:moveTo>
                <a:lnTo>
                  <a:pt x="0" y="0"/>
                </a:lnTo>
                <a:lnTo>
                  <a:pt x="0" y="4114800"/>
                </a:lnTo>
                <a:lnTo>
                  <a:pt x="4114800" y="4114800"/>
                </a:lnTo>
                <a:lnTo>
                  <a:pt x="411480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DAG-IILX6ec</dc:identifier>
  <dcterms:modified xsi:type="dcterms:W3CDTF">2011-08-01T06:04:30Z</dcterms:modified>
  <cp:revision>1</cp:revision>
  <dc:title>Pavar Kiran </dc:title>
</cp:coreProperties>
</file>